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3EE"/>
          </a:solidFill>
          <a:ln w="12700">
            <a:solidFill>
              <a:srgbClr val="F8F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914400"/>
            <a:ext cx="164592" cy="4389120"/>
          </a:xfrm>
          <a:prstGeom prst="rect">
            <a:avLst/>
          </a:prstGeom>
          <a:solidFill>
            <a:srgbClr val="A14B3A"/>
          </a:solidFill>
          <a:ln w="12700">
            <a:solidFill>
              <a:srgbClr val="A14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960120"/>
            <a:ext cx="51206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9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Capstone 2: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19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Analysis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19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with Python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5568" y="2971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Northeast Territory Comparison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115568" y="3474720"/>
            <a:ext cx="2331720" cy="310896"/>
          </a:xfrm>
          <a:prstGeom prst="roundRect">
            <a:avLst>
              <a:gd name="adj" fmla="val 23529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3502152"/>
            <a:ext cx="2185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74C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Shruti Reddy (Maryland)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11880" y="3474720"/>
            <a:ext cx="2651760" cy="310896"/>
          </a:xfrm>
          <a:prstGeom prst="roundRect">
            <a:avLst>
              <a:gd name="adj" fmla="val 23529"/>
            </a:avLst>
          </a:prstGeom>
          <a:solidFill>
            <a:srgbClr val="F7ECE9"/>
          </a:solidFill>
          <a:ln w="12700">
            <a:solidFill>
              <a:srgbClr val="F7EC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85032" y="3502152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14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Erbayne Middleton (Maine)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15568" y="4160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Mina Saeday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15568" y="44988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Region: Northeast | Data Period: 2022-2025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92240" y="1051560"/>
            <a:ext cx="4983480" cy="4526280"/>
          </a:xfrm>
          <a:prstGeom prst="roundRect">
            <a:avLst>
              <a:gd name="adj" fmla="val 1616"/>
            </a:avLst>
          </a:prstGeom>
          <a:solidFill>
            <a:srgbClr val="FFFDFC"/>
          </a:solidFill>
          <a:ln w="12700">
            <a:solidFill>
              <a:srgbClr val="EDE5DC"/>
            </a:solidFill>
            <a:prstDash val="solid"/>
          </a:ln>
          <a:effectLst>
            <a:outerShdw sx="100000" sy="100000" kx="0" ky="0" algn="bl" rotWithShape="0" blurRad="25400" dist="50800" dir="2700000">
              <a:srgbClr val="CFC4B8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0" y="1417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14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focus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0" y="1755648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Maryland is the stronger benchmark, where is the clearest growth opportunity and what should marketing do next?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58000" y="30632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presentation highlights the two biggest signals in the notebook: revenue trend over time and the category gap driving the territory difference.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800" y="624535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short decision brief built from the capstone notebook and Python analysis.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and Approach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datasets were cleaned and connected in Python before the territory comparison began.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0972800" cy="0"/>
          </a:xfrm>
          <a:prstGeom prst="line">
            <a:avLst/>
          </a:prstGeom>
          <a:noFill/>
          <a:ln w="12700">
            <a:solidFill>
              <a:srgbClr val="D8CE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27632"/>
            <a:ext cx="512064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EDE5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84708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14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Datasets used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87552" y="2249424"/>
            <a:ext cx="91440" cy="91440"/>
          </a:xfrm>
          <a:prstGeom prst="ellipse">
            <a:avLst/>
          </a:prstGeom>
          <a:solidFill>
            <a:srgbClr val="274C77"/>
          </a:solidFill>
          <a:ln w="12700">
            <a:solidFill>
              <a:srgbClr val="274C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2176272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StoreSales: transaction-level sales records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87552" y="2834640"/>
            <a:ext cx="91440" cy="91440"/>
          </a:xfrm>
          <a:prstGeom prst="ellipse">
            <a:avLst/>
          </a:prstGeom>
          <a:solidFill>
            <a:srgbClr val="C2922E"/>
          </a:solidFill>
          <a:ln w="12700">
            <a:solidFill>
              <a:srgbClr val="C292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761488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StoreDetail: store location, region, and manager data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87552" y="3419856"/>
            <a:ext cx="91440" cy="91440"/>
          </a:xfrm>
          <a:prstGeom prst="ellipse">
            <a:avLst/>
          </a:prstGeom>
          <a:solidFill>
            <a:srgbClr val="274C77"/>
          </a:solidFill>
          <a:ln w="12700">
            <a:solidFill>
              <a:srgbClr val="274C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3346704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Products: item-level product information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87552" y="4005072"/>
            <a:ext cx="91440" cy="91440"/>
          </a:xfrm>
          <a:prstGeom prst="ellipse">
            <a:avLst/>
          </a:prstGeom>
          <a:solidFill>
            <a:srgbClr val="C2922E"/>
          </a:solidFill>
          <a:ln w="12700">
            <a:solidFill>
              <a:srgbClr val="C292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3931920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ProductCategories: category and subcategory mapping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87552" y="4590288"/>
            <a:ext cx="91440" cy="91440"/>
          </a:xfrm>
          <a:prstGeom prst="ellipse">
            <a:avLst/>
          </a:prstGeom>
          <a:solidFill>
            <a:srgbClr val="274C77"/>
          </a:solidFill>
          <a:ln w="12700">
            <a:solidFill>
              <a:srgbClr val="274C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70432" y="4517136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customer_list: rewards customer information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1627632"/>
            <a:ext cx="5303520" cy="4160520"/>
          </a:xfrm>
          <a:prstGeom prst="roundRect">
            <a:avLst>
              <a:gd name="adj" fmla="val 1319"/>
            </a:avLst>
          </a:prstGeom>
          <a:solidFill>
            <a:srgbClr val="FFFDFC"/>
          </a:solidFill>
          <a:ln w="12700">
            <a:solidFill>
              <a:srgbClr val="EDE5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18470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4C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workflow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19088" y="21945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05956" y="2258568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4C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0" y="2157984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Loaded each file with pandas and checked structure using .info().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19088" y="28803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BF3E7"/>
          </a:solidFill>
          <a:ln w="12700">
            <a:solidFill>
              <a:srgbClr val="FBF3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05956" y="2944368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92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2843784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Corrected the customer file separator during import so rewards matching would work correctly.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19088" y="35661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05956" y="3630168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4C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0" y="3529584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Merged sales, store, product, category, and customer data into one usable analysis flow.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19088" y="42519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BF3E7"/>
          </a:solidFill>
          <a:ln w="12700">
            <a:solidFill>
              <a:srgbClr val="FBF3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05956" y="4315968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92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0" y="4215384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Filtered the final dataset to Shruti Reddy and Erbayne Middleton before answering the business questions.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85800" y="624535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turned separate raw files into one territory-level decision dataset.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Northeast Territory Snapshot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stronger benchmark in Maryland, and a clearer growth opportunity in Maine.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0972800" cy="0"/>
          </a:xfrm>
          <a:prstGeom prst="line">
            <a:avLst/>
          </a:prstGeom>
          <a:noFill/>
          <a:ln w="12700">
            <a:solidFill>
              <a:srgbClr val="D8CE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45920"/>
            <a:ext cx="489204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EEF4FB"/>
            </a:solidFill>
            <a:prstDash val="solid"/>
          </a:ln>
          <a:effectLst>
            <a:outerShdw sx="100000" sy="100000" kx="0" ky="0" algn="bl" rotWithShape="0" blurRad="12700" dist="50800" dir="2700000">
              <a:srgbClr val="D5CCC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87552" y="1810512"/>
            <a:ext cx="109728" cy="3739896"/>
          </a:xfrm>
          <a:prstGeom prst="rect">
            <a:avLst/>
          </a:prstGeom>
          <a:solidFill>
            <a:srgbClr val="274C77"/>
          </a:solidFill>
          <a:ln w="12700">
            <a:solidFill>
              <a:srgbClr val="274C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52728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4C7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Shruti Reddy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52728" y="225856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Maryland Territory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794760" y="1920240"/>
            <a:ext cx="1572768" cy="713232"/>
          </a:xfrm>
          <a:prstGeom prst="roundRect">
            <a:avLst>
              <a:gd name="adj" fmla="val 6410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22776" y="20299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4C7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$11.49M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67912" y="2249424"/>
            <a:ext cx="1389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2022-2025 total revenue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252728" y="27889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74C7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834640" y="28072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252728" y="35478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74C7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Higher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2834640" y="35661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revenue benchmark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252728" y="430682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74C7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North Harford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2834640" y="43251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major performance driver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252728" y="506577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74C7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categories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2834640" y="508406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 &amp; Accessories, Textbooks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28232" y="1645920"/>
            <a:ext cx="489204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F7ECE9"/>
            </a:solidFill>
            <a:prstDash val="solid"/>
          </a:ln>
          <a:effectLst>
            <a:outerShdw sx="100000" sy="100000" kx="0" ky="0" algn="bl" rotWithShape="0" blurRad="12700" dist="50800" dir="2700000">
              <a:srgbClr val="D5CCC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47104" y="1810512"/>
            <a:ext cx="109728" cy="3739896"/>
          </a:xfrm>
          <a:prstGeom prst="rect">
            <a:avLst/>
          </a:prstGeom>
          <a:solidFill>
            <a:srgbClr val="A14B3A"/>
          </a:solidFill>
          <a:ln w="12700">
            <a:solidFill>
              <a:srgbClr val="A14B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1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Erbayne Middleton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812280" y="225856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Maine Territory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354312" y="1920240"/>
            <a:ext cx="1572768" cy="713232"/>
          </a:xfrm>
          <a:prstGeom prst="roundRect">
            <a:avLst>
              <a:gd name="adj" fmla="val 6410"/>
            </a:avLst>
          </a:prstGeom>
          <a:solidFill>
            <a:srgbClr val="F7ECE9"/>
          </a:solidFill>
          <a:ln w="12700">
            <a:solidFill>
              <a:srgbClr val="F7EC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82328" y="20299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1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$2.14M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427464" y="2249424"/>
            <a:ext cx="1389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2022-2025 total revenue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812280" y="27889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1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8394192" y="28072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812280" y="35478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1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Lower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8394192" y="35661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revenue, but upward growth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812280" y="430682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1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More balanced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8394192" y="43251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performance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812280" y="506577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1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categories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8394192" y="508406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 &amp; Accessories, Textbooks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85800" y="624535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Maryland is the stronger benchmark, but Maine is the clearer next-quarter growth opportunity.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Finding 1: Monthly Revenue Trend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Shruti Reddy's territory stays ahead throughout the period, while Maine still shows upward momentum.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0972800" cy="0"/>
          </a:xfrm>
          <a:prstGeom prst="line">
            <a:avLst/>
          </a:prstGeom>
          <a:noFill/>
          <a:ln w="12700">
            <a:solidFill>
              <a:srgbClr val="D8CEC2"/>
            </a:solidFill>
            <a:prstDash val="solid"/>
          </a:ln>
        </p:spPr>
      </p:sp>
      <p:pic>
        <p:nvPicPr>
          <p:cNvPr id="5" name="Image 0" descr="/Users/mina/Desktop/untitled folder/Capstone_2/monthly_revenue_by_terri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81328"/>
            <a:ext cx="7360920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75320" y="1600200"/>
            <a:ext cx="3246120" cy="41605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EDE5D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49640" y="18288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14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chart says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503920" y="2240280"/>
            <a:ext cx="109728" cy="109728"/>
          </a:xfrm>
          <a:prstGeom prst="ellipse">
            <a:avLst/>
          </a:prstGeom>
          <a:solidFill>
            <a:srgbClr val="274C77"/>
          </a:solidFill>
          <a:ln w="12700">
            <a:solidFill>
              <a:srgbClr val="274C7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32520" y="217627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Shruti Reddy's territory consistently generates higher monthly revenue.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503920" y="3172968"/>
            <a:ext cx="109728" cy="109728"/>
          </a:xfrm>
          <a:prstGeom prst="ellipse">
            <a:avLst/>
          </a:prstGeom>
          <a:solidFill>
            <a:srgbClr val="A14B3A"/>
          </a:solidFill>
          <a:ln w="12700">
            <a:solidFill>
              <a:srgbClr val="A14B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32520" y="31089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territories rise over time, so Maine is smaller but not stagnant.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503920" y="4105656"/>
            <a:ext cx="109728" cy="109728"/>
          </a:xfrm>
          <a:prstGeom prst="ellipse">
            <a:avLst/>
          </a:prstGeom>
          <a:solidFill>
            <a:srgbClr val="A14B3A"/>
          </a:solidFill>
          <a:ln w="12700">
            <a:solidFill>
              <a:srgbClr val="A14B3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32520" y="404164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performance gap is persistent, which makes Maine a deliberate growth decision rather than a maintenance problem.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85800" y="624535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 chart used because the question is about trend over time and sustained performance differences.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Finding 2: Category Performance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largest revenue gap appears in the same high-value categories that matter most in both territories.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0972800" cy="0"/>
          </a:xfrm>
          <a:prstGeom prst="line">
            <a:avLst/>
          </a:prstGeom>
          <a:noFill/>
          <a:ln w="12700">
            <a:solidFill>
              <a:srgbClr val="D8CEC2"/>
            </a:solidFill>
            <a:prstDash val="solid"/>
          </a:ln>
        </p:spPr>
      </p:sp>
      <p:pic>
        <p:nvPicPr>
          <p:cNvPr id="5" name="Image 0" descr="/Users/mina/Desktop/untitled folder/Capstone_2/category_revenue_by_terri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7360920" cy="4434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0" y="1600200"/>
            <a:ext cx="3246120" cy="4160520"/>
          </a:xfrm>
          <a:prstGeom prst="roundRect">
            <a:avLst>
              <a:gd name="adj" fmla="val 1690"/>
            </a:avLst>
          </a:prstGeom>
          <a:solidFill>
            <a:srgbClr val="FFFDFC"/>
          </a:solidFill>
          <a:ln w="12700">
            <a:solidFill>
              <a:srgbClr val="FBF3E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85632" y="184708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92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chart says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449056" y="2267712"/>
            <a:ext cx="109728" cy="109728"/>
          </a:xfrm>
          <a:prstGeom prst="ellipse">
            <a:avLst/>
          </a:prstGeom>
          <a:solidFill>
            <a:srgbClr val="C2922E"/>
          </a:solidFill>
          <a:ln w="12700">
            <a:solidFill>
              <a:srgbClr val="C292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0" y="21945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 &amp; Accessories is the dominant revenue engine in both territories.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449056" y="3182112"/>
            <a:ext cx="109728" cy="109728"/>
          </a:xfrm>
          <a:prstGeom prst="ellipse">
            <a:avLst/>
          </a:prstGeom>
          <a:solidFill>
            <a:srgbClr val="A14B3A"/>
          </a:solidFill>
          <a:ln w="12700">
            <a:solidFill>
              <a:srgbClr val="A14B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0" y="3108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Textbooks is the second strongest category and reinforces the same pattern.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449056" y="4096512"/>
            <a:ext cx="109728" cy="109728"/>
          </a:xfrm>
          <a:prstGeom prst="ellipse">
            <a:avLst/>
          </a:prstGeom>
          <a:solidFill>
            <a:srgbClr val="C2922E"/>
          </a:solidFill>
          <a:ln w="12700">
            <a:solidFill>
              <a:srgbClr val="C292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0" y="40233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Maine trails most sharply in the highest-value categories, not in low-impact product areas.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85800" y="624535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 chart used because it makes category-by-category differences easy to compare at a glance.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Store and Customer Insight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small number of high-impact stores and customers helps explain where performance is concentrated.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0972800" cy="0"/>
          </a:xfrm>
          <a:prstGeom prst="line">
            <a:avLst/>
          </a:prstGeom>
          <a:noFill/>
          <a:ln w="12700">
            <a:solidFill>
              <a:srgbClr val="D8CE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91640"/>
            <a:ext cx="4983480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90195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4C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insight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143000" y="2240280"/>
            <a:ext cx="1463040" cy="640080"/>
          </a:xfrm>
          <a:prstGeom prst="roundRect">
            <a:avLst>
              <a:gd name="adj" fmla="val 7143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16736" y="23774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4C7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$8.71M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61872" y="2578608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 Harford total revenue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944368" y="2377440"/>
            <a:ext cx="109728" cy="109728"/>
          </a:xfrm>
          <a:prstGeom prst="ellipse">
            <a:avLst/>
          </a:prstGeom>
          <a:solidFill>
            <a:srgbClr val="274C77"/>
          </a:solidFill>
          <a:ln w="12700">
            <a:solidFill>
              <a:srgbClr val="274C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82112" y="23042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 Harford is a major outlier and a key driver of Maryland's advantage.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2944368" y="3218688"/>
            <a:ext cx="109728" cy="109728"/>
          </a:xfrm>
          <a:prstGeom prst="ellipse">
            <a:avLst/>
          </a:prstGeom>
          <a:solidFill>
            <a:srgbClr val="274C77"/>
          </a:solidFill>
          <a:ln w="12700">
            <a:solidFill>
              <a:srgbClr val="274C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82112" y="314553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Maine's stores are more balanced across locations, with less dependence on one standout site.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2944368" y="4059936"/>
            <a:ext cx="109728" cy="109728"/>
          </a:xfrm>
          <a:prstGeom prst="ellipse">
            <a:avLst/>
          </a:prstGeom>
          <a:solidFill>
            <a:srgbClr val="274C77"/>
          </a:solidFill>
          <a:ln w="12700">
            <a:solidFill>
              <a:srgbClr val="274C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82112" y="398678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suggests Maryland's lead is strong overall, but also amplified by one especially powerful store.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1143000" y="46634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store revenue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43000" y="498348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 Harford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057400" y="4983480"/>
            <a:ext cx="2331720" cy="128016"/>
          </a:xfrm>
          <a:prstGeom prst="rect">
            <a:avLst/>
          </a:prstGeom>
          <a:solidFill>
            <a:srgbClr val="274C77"/>
          </a:solidFill>
          <a:ln w="12700">
            <a:solidFill>
              <a:srgbClr val="274C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98848" y="4910328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4C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$8.71M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43000" y="523036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South Portland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057400" y="5230368"/>
            <a:ext cx="91440" cy="128016"/>
          </a:xfrm>
          <a:prstGeom prst="rect">
            <a:avLst/>
          </a:prstGeom>
          <a:solidFill>
            <a:srgbClr val="C2922E"/>
          </a:solidFill>
          <a:ln w="12700">
            <a:solidFill>
              <a:srgbClr val="C292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58568" y="5157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292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$0.33M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309360" y="1691640"/>
            <a:ext cx="4983480" cy="3977640"/>
          </a:xfrm>
          <a:prstGeom prst="roundRect">
            <a:avLst>
              <a:gd name="adj" fmla="val 1379"/>
            </a:avLst>
          </a:prstGeom>
          <a:solidFill>
            <a:srgbClr val="FFFDFC"/>
          </a:solidFill>
          <a:ln w="12700">
            <a:solidFill>
              <a:srgbClr val="F7EC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190195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14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insight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583680" y="2240280"/>
            <a:ext cx="1234440" cy="640080"/>
          </a:xfrm>
          <a:prstGeom prst="roundRect">
            <a:avLst>
              <a:gd name="adj" fmla="val 7143"/>
            </a:avLst>
          </a:prstGeom>
          <a:solidFill>
            <a:srgbClr val="F7ECE9"/>
          </a:solidFill>
          <a:ln w="12700">
            <a:solidFill>
              <a:srgbClr val="F7EC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39128" y="2377440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1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$7.60K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638544" y="2578608"/>
            <a:ext cx="1115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Maryland rewards customer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8046720" y="2240280"/>
            <a:ext cx="1234440" cy="640080"/>
          </a:xfrm>
          <a:prstGeom prst="roundRect">
            <a:avLst>
              <a:gd name="adj" fmla="val 7143"/>
            </a:avLst>
          </a:prstGeom>
          <a:solidFill>
            <a:srgbClr val="FBF3E7"/>
          </a:solidFill>
          <a:ln w="12700">
            <a:solidFill>
              <a:srgbClr val="FBF3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02168" y="2377440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292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$3.64K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101584" y="2578608"/>
            <a:ext cx="1115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Maine rewards customer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583680" y="310896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Maryland's top identified customer spend is much higher than Maine's, and a small group of rewards customers contributes a meaningful share of known territory revenue. That supports targeted loyalty outreach rather than broad, unfocused marketing.</a:t>
            </a:r>
            <a:endParaRPr lang="en-US" sz="1180" dirty="0"/>
          </a:p>
        </p:txBody>
      </p:sp>
      <p:sp>
        <p:nvSpPr>
          <p:cNvPr id="32" name="Text 30"/>
          <p:cNvSpPr/>
          <p:nvPr/>
        </p:nvSpPr>
        <p:spPr>
          <a:xfrm>
            <a:off x="6583680" y="453542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rewards customer spend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83680" y="4855464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Cole Brown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452360" y="4855464"/>
            <a:ext cx="1965960" cy="128016"/>
          </a:xfrm>
          <a:prstGeom prst="rect">
            <a:avLst/>
          </a:prstGeom>
          <a:solidFill>
            <a:srgbClr val="A14B3A"/>
          </a:solidFill>
          <a:ln w="12700">
            <a:solidFill>
              <a:srgbClr val="A14B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28048" y="478231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14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$7.60K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583680" y="510235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Rosita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452360" y="5102352"/>
            <a:ext cx="941832" cy="128016"/>
          </a:xfrm>
          <a:prstGeom prst="rect">
            <a:avLst/>
          </a:prstGeom>
          <a:solidFill>
            <a:srgbClr val="C2922E"/>
          </a:solidFill>
          <a:ln w="12700">
            <a:solidFill>
              <a:srgbClr val="C292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03920" y="5029200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292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$3.64K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583680" y="539496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customers: Cole Brown in Maryland, Rosita in Maine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85800" y="624535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structure and customer concentration both support a more targeted growth strategy.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 for Next Quarter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growth efforts where demand already exists but performance still trails the stronger benchmark.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0972800" cy="0"/>
          </a:xfrm>
          <a:prstGeom prst="line">
            <a:avLst/>
          </a:prstGeom>
          <a:noFill/>
          <a:ln w="12700">
            <a:solidFill>
              <a:srgbClr val="D8CE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965960"/>
            <a:ext cx="324612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EF4FB"/>
            </a:solidFill>
            <a:prstDash val="solid"/>
          </a:ln>
          <a:effectLst>
            <a:outerShdw sx="100000" sy="100000" kx="0" ky="0" algn="bl" rotWithShape="0" blurRad="12700" dist="50800" dir="2700000">
              <a:srgbClr val="D5CCC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42416" y="214884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212848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4C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Territory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33856" y="2807208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74C7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Erbayne Middleton's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33856" y="3300984"/>
            <a:ext cx="2660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Maine territory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62272" y="1965960"/>
            <a:ext cx="324612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FBF3E7"/>
            </a:solidFill>
            <a:prstDash val="solid"/>
          </a:ln>
          <a:effectLst>
            <a:outerShdw sx="100000" sy="100000" kx="0" ky="0" algn="bl" rotWithShape="0" blurRad="12700" dist="50800" dir="2700000">
              <a:srgbClr val="D5CCC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14884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FBF3E7"/>
          </a:solidFill>
          <a:ln w="12700">
            <a:solidFill>
              <a:srgbClr val="FBF3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2212848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92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Categories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2807208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292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Technology &amp; Accessories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754880" y="3300984"/>
            <a:ext cx="2660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Textbooks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83296" y="1965960"/>
            <a:ext cx="324612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F7ECE9"/>
            </a:solidFill>
            <a:prstDash val="solid"/>
          </a:ln>
          <a:effectLst>
            <a:outerShdw sx="100000" sy="100000" kx="0" ky="0" algn="bl" rotWithShape="0" blurRad="12700" dist="50800" dir="2700000">
              <a:srgbClr val="D5CCC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84464" y="214884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F7ECE9"/>
          </a:solidFill>
          <a:ln w="12700">
            <a:solidFill>
              <a:srgbClr val="F7EC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57616" y="2212848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14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Actions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375904" y="2807208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1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Targeted promotions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75904" y="3300984"/>
            <a:ext cx="2660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Loyalty outreach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75904" y="3685032"/>
            <a:ext cx="2660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for high-performing stores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05840" y="4892040"/>
            <a:ext cx="10149840" cy="676656"/>
          </a:xfrm>
          <a:prstGeom prst="roundRect">
            <a:avLst>
              <a:gd name="adj" fmla="val 6757"/>
            </a:avLst>
          </a:prstGeom>
          <a:solidFill>
            <a:srgbClr val="FFFDFC"/>
          </a:solidFill>
          <a:ln w="12700">
            <a:solidFill>
              <a:srgbClr val="EDE5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5102352"/>
            <a:ext cx="9646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Maryland is the stronger benchmark, but Maine presents the better opportunity for focused revenue growth.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5800" y="624535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 is based on the combination of territory trend, category gap, store structure, and customer concentration.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EmporiUm Capstone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2: Business Analysis with Python</dc:title>
  <dc:subject>Capstone 2 5-minute presentation</dc:subject>
  <dc:creator>OpenAI Codex</dc:creator>
  <cp:lastModifiedBy>OpenAI Codex</cp:lastModifiedBy>
  <cp:revision>1</cp:revision>
  <dcterms:created xsi:type="dcterms:W3CDTF">2026-05-29T05:32:09Z</dcterms:created>
  <dcterms:modified xsi:type="dcterms:W3CDTF">2026-05-29T05:32:09Z</dcterms:modified>
</cp:coreProperties>
</file>